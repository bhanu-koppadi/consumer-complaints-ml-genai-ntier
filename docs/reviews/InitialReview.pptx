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3BBEA-FECF-4D43-AC9B-D538F81B5DD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66349-C8FC-4393-9931-6493CA770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50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66349-C8FC-4393-9931-6493CA7701D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3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5B35-0310-DEF2-AF4A-83905D89C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EF087-FC22-2360-6507-951A569FF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1AA2-EF21-B22C-2A48-CEB108B5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789F-F9DB-4530-8C25-110B0D054CC1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2C99-EA3A-7784-C22C-2FC8E03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70FB-AD92-7ACF-7187-14607325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0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E73A-3E06-5EA6-E5E0-75795B55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3224-42D8-6A8A-B3C9-BD8238C98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AC0B-5942-BC04-48EF-8158047D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E8654-D33C-4DCB-9E51-97BE8221D6F4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2B276-46C2-68BE-71DB-A68AFC95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0D6C-1BC6-F439-9EB8-3A7A8292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6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44BC-4B50-6C59-75AD-482866EA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6AED-FD99-6A43-00C5-BA24EED19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3C4D-5FAD-8B36-2590-EB0F97F1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6A81-BEA3-4E4D-B534-A24D8164FB16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838E-1CFC-DEF3-02B9-E818B04C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7C25-2B40-44B7-EBEE-C77BE6F7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F003-6EDA-AE1E-E5C1-9E8E033D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0034-52A4-D9B2-6E84-D92C74F0E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8A701-60C2-F0B8-644D-500C6AA08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CB57-5B26-AAFE-004D-87B5B68C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FABE-82CC-4207-869A-9FE43B3BD437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D0635-D5D5-1020-50A3-07DD16C2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98959-D528-9802-FFC0-2FF62EC6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5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E80-CFB8-99EE-BD83-DF11D8B1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2EB19-81F7-6632-3D39-CF33E3C8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A172B-5CB2-FE75-A0CB-B712C7967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D31C1-4DC4-F558-43BC-04F3AB149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A5D06-E5E8-D5EB-0B26-739E0FA0A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E47FC-BEEF-3C2D-F8B7-0D2123AD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1235-0950-4FAD-858A-38CB385E7D42}" type="datetime1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95E52-4878-48CC-2EC4-AFC42B9B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54C46-FCAB-C7BA-B14D-9E0EED6D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90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6891-4CAF-21C9-AD9A-2B97E915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D295F-FF4C-1A1E-6316-5D3FAB36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863E3-7281-408C-9B85-54974F772BFB}" type="datetime1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58AD2-ED64-A51D-5220-EE6414E9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95FAA-B388-7DF8-F18E-BB7B59A1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B1EB2-4513-64C9-15FB-7CE64274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E01D-8E84-4FD9-8310-14FDAB3430B3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B8A7D-83C0-ED52-2A14-929DBDAB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7EF3-E102-071A-C173-06F31ABA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1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EFBB-CEEE-5DD5-9578-9F7B41C0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2B7A-3FF4-EA64-1EDE-A7A281188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B8353-8F43-3003-342E-1F82C4C1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7544-A733-A898-57AA-5BA714E2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CDF0-E057-4B1B-A251-53AA1CD4F4AC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763D1-9D32-4ADA-3F7D-62E996A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8E32C-4F31-843C-FF42-544468A0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4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BD70-D363-343F-5887-EC607D55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C287C-ED10-D1B8-84A7-9C1D75E59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47507-9C2C-93ED-1284-7320F1BF7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B7D4-4F2A-4B7F-0DFE-5B89B9FC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6048-8DFC-4F0B-B0D2-A7DD9A044575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0D49F-4E71-7619-24DA-1C2B23D9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264E-228B-F91D-D064-1754C06D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2A83-4818-8EA4-37B4-1E234AE8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3133A-26D1-B4A6-75EA-6CB49EFF7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D55E-810D-957F-2F0A-946163B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FF21-6505-4C84-96E4-5BB9E49E4D59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17DCD-5A6D-A0E5-35E2-AD2715DC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48CD4-E9FC-A295-7DC2-3DC78CD4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96E6A-A15B-B014-1AD5-D54C57793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356AA-E4F1-0E4E-5675-EB3B1C485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FA92-A2B6-6719-01ED-73F05792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DB23C-65CE-4DF1-B83A-BF822E2BB1E2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9EDF-3E16-8332-9AC9-B52029EE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9906-2176-91A7-D1A5-11313B1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6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C33F7-15F9-9E9C-22F4-FBE43585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0F52E-82DE-6C27-9E98-A8F6CAB9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D45C-FC54-314B-6F74-ECB62A1F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2912F-57C5-4A5B-9D5F-FC9CE38D3A67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FEA4-8049-5CF0-EFAB-85225B9A2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B796-39CB-5237-CBC5-6E240CB33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1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3EF181-C08B-5C7E-B2B2-A6A86FB0D2EC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AI-Based Consumer Complaints Classification System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A85524-6BC8-8164-5AAD-D01FEC21E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03704"/>
            <a:ext cx="12192000" cy="28072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700" dirty="0"/>
              <a:t>Using Machine Learning and Generative AI with N-Tier Architecture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Presented by: [Your Team Names]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Date: January 29, 2026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7E858F5-6B07-0157-8E66-06FD8D1B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39BA-5729-4EFC-8D80-E7A944AEDDFE}" type="datetime1">
              <a:rPr lang="en-IN" smtClean="0"/>
              <a:t>30-01-2026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26A1F0-6FE3-8575-43AF-A96A1CA0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F81950-7AA9-0590-F7E6-C5631662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8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04E2-06F5-78B7-E1C3-B46926EA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379190-42E9-626C-1CFF-289EA1906D8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Agenda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B9841-5147-8003-706F-30A71246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C6C2-2084-48DA-870E-F6A56E1E1B89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469CC-CB97-0D9A-EFBD-5BD0EC54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614F-7921-BAC0-DEAA-7AA5B402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F843E4-E9F9-EA24-88C2-093F74E01B72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Problem Statement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Proposed Solution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Key Features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Technology Stack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System Architecture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ML Pipeline &amp; Workflow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Explainable AI Integration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Conclusion &amp; Future Scope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247D-DF80-93AC-5D54-C53C6C04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DCDA5E-6531-258D-2AC8-405E3E124D1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F9185-579A-71A5-6E0C-567987B4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D7CB3-BF14-136C-6F0C-71BE70C5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4B151-5F98-4F10-82A8-7982F8AD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659D9D-F095-7BCA-7050-E0B0CD663E8F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High Volume of textual complaints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Inconsistency in manual classification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Lack of explanation from black-box models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Architectural gaps for enterprise deployment</a:t>
            </a:r>
          </a:p>
        </p:txBody>
      </p:sp>
    </p:spTree>
    <p:extLst>
      <p:ext uri="{BB962C8B-B14F-4D97-AF65-F5344CB8AC3E}">
        <p14:creationId xmlns:p14="http://schemas.microsoft.com/office/powerpoint/2010/main" val="129265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C1B4-FB7B-4FAD-8971-EF1D0464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B2140-073B-9514-522A-42B1977F3359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Proposed Solution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33225-2EA9-432D-725B-A3177A1D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F4A63-C61F-1BC0-51E2-E91BC4BA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BB83-D16B-0C32-FD09-ECA9DB0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0869CF-97FA-860E-9D5E-8773B1C4D4A5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Hybrid AI approach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Deterministic ML (Scikit-learn)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Generative AI for explanations (Google Gemini)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N-Tier 5-layer architecture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Full ML lifecycle and DB persistence</a:t>
            </a:r>
          </a:p>
        </p:txBody>
      </p:sp>
    </p:spTree>
    <p:extLst>
      <p:ext uri="{BB962C8B-B14F-4D97-AF65-F5344CB8AC3E}">
        <p14:creationId xmlns:p14="http://schemas.microsoft.com/office/powerpoint/2010/main" val="46203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ED67-75B4-89AA-BD6E-2BB75FF9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69786-25D3-7E93-9FD3-44F9905298D1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How This Differs from Existing Solutions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E8455-08AD-CDF6-156B-68E59BE1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CDBC8-713E-E670-0017-28C53A8A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04CC-1354-D3E2-F088-2C688524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B589DB-AA90-98E5-04E6-9B23FCA5D249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494AEB-A53F-07D4-AA79-A15E41F5C204}"/>
              </a:ext>
            </a:extLst>
          </p:cNvPr>
          <p:cNvSpPr txBox="1">
            <a:spLocks/>
          </p:cNvSpPr>
          <p:nvPr/>
        </p:nvSpPr>
        <p:spPr>
          <a:xfrm>
            <a:off x="-3048" y="17526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AA1477-7A53-305D-9839-5040E7513CA4}"/>
              </a:ext>
            </a:extLst>
          </p:cNvPr>
          <p:cNvSpPr txBox="1">
            <a:spLocks/>
          </p:cNvSpPr>
          <p:nvPr/>
        </p:nvSpPr>
        <p:spPr>
          <a:xfrm>
            <a:off x="-3048" y="17526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IN" sz="1400" dirty="0"/>
              <a:t>Key Differentiators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A864A0-6C44-A7BB-5879-67F74F9B0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149342"/>
              </p:ext>
            </p:extLst>
          </p:nvPr>
        </p:nvGraphicFramePr>
        <p:xfrm>
          <a:off x="93472" y="2155274"/>
          <a:ext cx="11446257" cy="2225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289808">
                  <a:extLst>
                    <a:ext uri="{9D8B030D-6E8A-4147-A177-3AD203B41FA5}">
                      <a16:colId xmlns:a16="http://schemas.microsoft.com/office/drawing/2014/main" val="2455674341"/>
                    </a:ext>
                  </a:extLst>
                </a:gridCol>
                <a:gridCol w="4341030">
                  <a:extLst>
                    <a:ext uri="{9D8B030D-6E8A-4147-A177-3AD203B41FA5}">
                      <a16:colId xmlns:a16="http://schemas.microsoft.com/office/drawing/2014/main" val="1696277302"/>
                    </a:ext>
                  </a:extLst>
                </a:gridCol>
                <a:gridCol w="3815419">
                  <a:extLst>
                    <a:ext uri="{9D8B030D-6E8A-4147-A177-3AD203B41FA5}">
                      <a16:colId xmlns:a16="http://schemas.microsoft.com/office/drawing/2014/main" val="3564483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Aspect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Existing Solutions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This Project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86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Architecture</a:t>
                      </a:r>
                      <a:endParaRPr lang="en-IN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Monolithic scripts or notebooks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N-Tier enterprise architecture (5 layers)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2609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Explainability</a:t>
                      </a:r>
                      <a:endParaRPr lang="en-IN" sz="12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Label prediction only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GenAI-powered natural language explanations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657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ML Approach</a:t>
                      </a:r>
                      <a:endParaRPr lang="en-IN" sz="12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Complex transformers requiring GPUs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Lightweight Scikit-learn models (CPU-optimized)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326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Transparency</a:t>
                      </a:r>
                      <a:endParaRPr lang="en-IN" sz="12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Black-box predictions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Full audit trail + confidence scoring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9314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Deployment</a:t>
                      </a:r>
                      <a:endParaRPr lang="en-IN" sz="12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Academic prototypes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Production-ready with database persistence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2095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D7CAEFA-4465-FC95-2849-427353B22BDC}"/>
              </a:ext>
            </a:extLst>
          </p:cNvPr>
          <p:cNvSpPr txBox="1"/>
          <p:nvPr/>
        </p:nvSpPr>
        <p:spPr>
          <a:xfrm>
            <a:off x="93473" y="4459214"/>
            <a:ext cx="11446256" cy="1634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1" dirty="0"/>
              <a:t>Unique Innovations: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Hybrid ML + GenAI Architecture:</a:t>
            </a:r>
            <a:r>
              <a:rPr lang="en-US" sz="1000" dirty="0"/>
              <a:t> Combines traditional ML (Logistic Regression/SVM) for fast, accurate classification with Google Gemini for human-readable explanations of model decisions.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CPU-Optimized Inference:</a:t>
            </a:r>
            <a:r>
              <a:rPr lang="en-US" sz="1000" dirty="0"/>
              <a:t> Uses TF-IDF + Scikit-learn models requiring no expensive GPU infrastructure, enabling deployment on standard servers.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Enterprise N-Tier Design:</a:t>
            </a:r>
            <a:r>
              <a:rPr lang="en-US" sz="1000" dirty="0"/>
              <a:t> Professional 5-layer architecture with clear separation of concerns—Presentation, Application, AI/ML Processing, Data Access, and Data layers.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Explainable AI Integration:</a:t>
            </a:r>
            <a:r>
              <a:rPr lang="en-US" sz="1000" dirty="0"/>
              <a:t> Consumers and support teams receive actionable context: </a:t>
            </a:r>
            <a:r>
              <a:rPr lang="en-US" sz="1000" i="1" dirty="0"/>
              <a:t>"Classified as 'Billing Issue' due to mentions of unauthorized charges and payment disputes. Confidence: 92%."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b="1" dirty="0"/>
              <a:t>Complete Audit Trail:</a:t>
            </a:r>
            <a:r>
              <a:rPr lang="en-US" sz="1000" dirty="0"/>
              <a:t> Every complaint, prediction, confidence score, and explanation persisted in PostgreSQL for compliance and analytics.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Production-Ready Security:</a:t>
            </a:r>
            <a:r>
              <a:rPr lang="en-US" sz="1000" dirty="0"/>
              <a:t> Environment-based configuration, parameterized SQL queries preventing injection attacks, and comprehensive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270227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9C77-9666-E509-1179-C0C55B34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6EA52A-E3C9-D7FA-47D7-FD870E64C62B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Key Features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05DE2-DF61-221B-E218-5C85070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4A7FD-D19C-7634-8A26-BD0A364F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627EF-730E-F979-A757-366EEE85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6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410847-01B8-E8BE-3B6E-045D920D362C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Automated complaint triage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Confidence scoring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Explainable AI (XAI) via Gemini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Production-grade NLP pipeline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Persistent audit trail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Secure &amp; modular design</a:t>
            </a:r>
          </a:p>
        </p:txBody>
      </p:sp>
    </p:spTree>
    <p:extLst>
      <p:ext uri="{BB962C8B-B14F-4D97-AF65-F5344CB8AC3E}">
        <p14:creationId xmlns:p14="http://schemas.microsoft.com/office/powerpoint/2010/main" val="2440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0BC9-2264-2E26-D8E2-EBEF43FF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70F3E3-3E6E-7AC9-E0AF-CE5451E84118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Technology Stack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19D57-8CBB-742A-EEDC-52149D1F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6EEBF-350E-CBF2-7FEF-CC4B4212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3A9B-3E2B-33BC-3534-53458353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7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FE852E-7B98-C93E-2BD6-ECEFFE41655A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Backend/API: Python 3.12, Flask 3.x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ML: Scikit-learn, TF-IDF, Logistic Regression/SVM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Generative AI: Google Gemini API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Database: PostgreSQL/MySQL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Architecture: N-Tier (5 Layers)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DevOps: Docker/</a:t>
            </a:r>
            <a:r>
              <a:rPr lang="en-IN" dirty="0" err="1"/>
              <a:t>Podman</a:t>
            </a:r>
            <a:r>
              <a:rPr lang="en-IN" dirty="0"/>
              <a:t>,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23003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D206-C6B6-3755-F49E-E3679B4A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44E7DA-6024-3BD2-B27F-5FBA3C07E3B6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System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EA59E-4044-83AE-DEBE-E00DD76D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2A433-749D-B020-A136-434AE955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3DA1-E6E9-C840-4063-0CCF43E5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8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F033E-DDEC-6FC9-3404-F2867F80FE81}"/>
              </a:ext>
            </a:extLst>
          </p:cNvPr>
          <p:cNvSpPr txBox="1">
            <a:spLocks/>
          </p:cNvSpPr>
          <p:nvPr/>
        </p:nvSpPr>
        <p:spPr>
          <a:xfrm>
            <a:off x="8912352" y="530352"/>
            <a:ext cx="3090672" cy="582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N-Tier Enterprise Architecture</a:t>
            </a:r>
            <a:endParaRPr lang="en-IN" b="1" dirty="0"/>
          </a:p>
          <a:p>
            <a:pPr algn="l">
              <a:lnSpc>
                <a:spcPct val="150000"/>
              </a:lnSpc>
            </a:pPr>
            <a:r>
              <a:rPr lang="en-IN" sz="1600" dirty="0"/>
              <a:t>1. Presentation Layer (REST API)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2. Application Layer (Flask)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3. AI/ML Processing Layer (Preprocessing, TF-IDF, Classification; GenAI explanations)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4. Data Access Layer (parameterized SQL)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5. Data Layer (PostgreSQL)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342C6-CF38-5558-F5E4-684FBE5D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52" y="550944"/>
            <a:ext cx="8438400" cy="577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6854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F453-EDFD-CCAF-B824-68381609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1C47BB-F833-0C88-EBEB-5113C699C17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ML Pipeline &amp; Workflow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92E45-F622-5DC1-27C1-C287839B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565CA-76E4-5D5D-13E1-34EB0E4C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BAB5-05F3-6AD7-0930-CF66B045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9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88CD66-1491-6AB4-BD17-B9604CA53711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Input via API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Preprocessing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Feature extraction (TF-IDF)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Classification (Logistic Regression/SVM)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Confidence scoring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GenAI explanation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Storage in DB</a:t>
            </a:r>
          </a:p>
        </p:txBody>
      </p:sp>
    </p:spTree>
    <p:extLst>
      <p:ext uri="{BB962C8B-B14F-4D97-AF65-F5344CB8AC3E}">
        <p14:creationId xmlns:p14="http://schemas.microsoft.com/office/powerpoint/2010/main" val="411096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3A96-DF10-CD63-52ED-46D98BBD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B1B34A-1853-0742-7462-F187FFA1DEE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Explainable AI Integration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76BF2-F5AC-ED9B-4D0F-31F0A1F2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F2079-7110-08CD-62D2-181FECB9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B245-E953-C5D5-2D01-AEAFBBFF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10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98424D-2440-30D4-8F33-FBD620A9F664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Importance of explainability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Input to Gemini (complaint + prediction + confidence)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Output example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Prompt engineering for concise factual explanations</a:t>
            </a:r>
          </a:p>
        </p:txBody>
      </p:sp>
    </p:spTree>
    <p:extLst>
      <p:ext uri="{BB962C8B-B14F-4D97-AF65-F5344CB8AC3E}">
        <p14:creationId xmlns:p14="http://schemas.microsoft.com/office/powerpoint/2010/main" val="1829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D6FB4-0B29-429C-6C58-50989786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E01D-8E84-4FD9-8310-14FDAB3430B3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27495-8466-AEA2-3511-8E8BDF34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9FBF-7A5D-7DF7-A563-F76340AA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11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B70ED-91AE-29A6-9DF1-1C861F8F10C6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Conclusion &amp; 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4D35C-74CF-9CF3-CE76-C918A1363B04}"/>
              </a:ext>
            </a:extLst>
          </p:cNvPr>
          <p:cNvSpPr txBox="1"/>
          <p:nvPr/>
        </p:nvSpPr>
        <p:spPr>
          <a:xfrm>
            <a:off x="0" y="2390478"/>
            <a:ext cx="9173718" cy="327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Summary of hybrid ML + GenAI approach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Enterprise-ready N-Tier architecture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Future: real-time processing (Kafka/RabbitMQ)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Advanced models (BERT/GPT)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Multi-language support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Active learning feedback loop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Dashboard analytics</a:t>
            </a:r>
          </a:p>
        </p:txBody>
      </p:sp>
    </p:spTree>
    <p:extLst>
      <p:ext uri="{BB962C8B-B14F-4D97-AF65-F5344CB8AC3E}">
        <p14:creationId xmlns:p14="http://schemas.microsoft.com/office/powerpoint/2010/main" val="105180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585</Words>
  <Application>Microsoft Office PowerPoint</Application>
  <PresentationFormat>Widescreen</PresentationFormat>
  <Paragraphs>127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Vignesh Ramakrishna</dc:creator>
  <cp:lastModifiedBy>Hema Vignesh Ramakrishna</cp:lastModifiedBy>
  <cp:revision>36</cp:revision>
  <dcterms:created xsi:type="dcterms:W3CDTF">2026-01-29T08:17:13Z</dcterms:created>
  <dcterms:modified xsi:type="dcterms:W3CDTF">2026-01-30T04:43:01Z</dcterms:modified>
</cp:coreProperties>
</file>